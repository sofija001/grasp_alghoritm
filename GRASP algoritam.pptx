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7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E97E10D-F8AB-48C3-B85D-FF95134FD4FF}">
          <p14:sldIdLst>
            <p14:sldId id="256"/>
            <p14:sldId id="257"/>
          </p14:sldIdLst>
        </p14:section>
        <p14:section name="Untitled Section" id="{C7D52CF4-B30F-43C9-889B-EAB7EDDDFEFF}">
          <p14:sldIdLst>
            <p14:sldId id="258"/>
            <p14:sldId id="264"/>
            <p14:sldId id="259"/>
            <p14:sldId id="260"/>
            <p14:sldId id="261"/>
            <p14:sldId id="262"/>
            <p14:sldId id="267"/>
            <p14:sldId id="265"/>
            <p14:sldId id="266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469AD-4638-4945-B73C-1CA2A0989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GRASP </a:t>
            </a:r>
            <a:r>
              <a:rPr lang="en-US" dirty="0" err="1"/>
              <a:t>algoritam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EE741-F551-407E-B732-8FEE2DF311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Jelena </a:t>
            </a:r>
            <a:r>
              <a:rPr lang="en-US" dirty="0" err="1"/>
              <a:t>kostadinovi</a:t>
            </a:r>
            <a:r>
              <a:rPr lang="sr-Latn-RS" dirty="0"/>
              <a:t>ć</a:t>
            </a:r>
          </a:p>
          <a:p>
            <a:r>
              <a:rPr lang="sr-Latn-RS" dirty="0"/>
              <a:t>Sofija višnjić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038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88B31-0727-4C23-A3BD-C0B5E4C70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Uvod u GRASP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7D82-3B07-453C-AD48-76C5F9547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GRASP je </a:t>
            </a:r>
            <a:r>
              <a:rPr lang="en-US" dirty="0" err="1"/>
              <a:t>višestartna</a:t>
            </a:r>
            <a:r>
              <a:rPr lang="en-US" dirty="0"/>
              <a:t> </a:t>
            </a:r>
            <a:r>
              <a:rPr lang="en-US" dirty="0" err="1"/>
              <a:t>metaheuristika</a:t>
            </a:r>
            <a:r>
              <a:rPr lang="en-US" dirty="0"/>
              <a:t>: u </a:t>
            </a:r>
            <a:r>
              <a:rPr lang="en-US" dirty="0" err="1"/>
              <a:t>svakoj</a:t>
            </a:r>
            <a:r>
              <a:rPr lang="en-US" dirty="0"/>
              <a:t> </a:t>
            </a:r>
            <a:r>
              <a:rPr lang="en-US" dirty="0" err="1"/>
              <a:t>iteraciji</a:t>
            </a:r>
            <a:r>
              <a:rPr lang="en-US" dirty="0"/>
              <a:t> </a:t>
            </a:r>
            <a:r>
              <a:rPr lang="en-US" dirty="0" err="1"/>
              <a:t>prvo</a:t>
            </a:r>
            <a:r>
              <a:rPr lang="en-US" dirty="0"/>
              <a:t> </a:t>
            </a:r>
            <a:r>
              <a:rPr lang="en-US" dirty="0" err="1"/>
              <a:t>konstruiše</a:t>
            </a:r>
            <a:r>
              <a:rPr lang="en-US" dirty="0"/>
              <a:t> </a:t>
            </a:r>
            <a:r>
              <a:rPr lang="en-US" dirty="0" err="1"/>
              <a:t>rešenje</a:t>
            </a:r>
            <a:r>
              <a:rPr lang="en-US" dirty="0"/>
              <a:t> “</a:t>
            </a:r>
            <a:r>
              <a:rPr lang="en-US" dirty="0" err="1"/>
              <a:t>pohlepno</a:t>
            </a:r>
            <a:r>
              <a:rPr lang="en-US" dirty="0"/>
              <a:t>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randomizovano</a:t>
            </a:r>
            <a:r>
              <a:rPr lang="en-US" dirty="0"/>
              <a:t>”, pa </a:t>
            </a:r>
            <a:r>
              <a:rPr lang="en-US" dirty="0" err="1"/>
              <a:t>ga</a:t>
            </a:r>
            <a:r>
              <a:rPr lang="en-US" dirty="0"/>
              <a:t>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poboljša</a:t>
            </a:r>
            <a:r>
              <a:rPr lang="en-US" dirty="0"/>
              <a:t> </a:t>
            </a:r>
            <a:r>
              <a:rPr lang="en-US" dirty="0" err="1"/>
              <a:t>lokalnom</a:t>
            </a:r>
            <a:r>
              <a:rPr lang="en-US" dirty="0"/>
              <a:t> </a:t>
            </a:r>
            <a:r>
              <a:rPr lang="en-US" dirty="0" err="1"/>
              <a:t>pretragom</a:t>
            </a:r>
            <a:r>
              <a:rPr lang="en-US" dirty="0"/>
              <a:t>; </a:t>
            </a:r>
            <a:r>
              <a:rPr lang="en-US" dirty="0" err="1"/>
              <a:t>čuva</a:t>
            </a:r>
            <a:r>
              <a:rPr lang="en-US" dirty="0"/>
              <a:t> se </a:t>
            </a:r>
            <a:r>
              <a:rPr lang="en-US" dirty="0" err="1"/>
              <a:t>najbolje</a:t>
            </a:r>
            <a:r>
              <a:rPr lang="en-US" dirty="0"/>
              <a:t> </a:t>
            </a:r>
            <a:r>
              <a:rPr lang="en-US" dirty="0" err="1"/>
              <a:t>rešenje</a:t>
            </a:r>
            <a:r>
              <a:rPr lang="en-US" dirty="0"/>
              <a:t> do </a:t>
            </a:r>
            <a:r>
              <a:rPr lang="en-US" dirty="0" err="1"/>
              <a:t>tada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 err="1"/>
              <a:t>Ključna</a:t>
            </a:r>
            <a:r>
              <a:rPr lang="en-US" dirty="0"/>
              <a:t> </a:t>
            </a:r>
            <a:r>
              <a:rPr lang="en-US" dirty="0" err="1"/>
              <a:t>poluga</a:t>
            </a:r>
            <a:r>
              <a:rPr lang="en-US" dirty="0"/>
              <a:t> je RCL (restricted candidate list): </a:t>
            </a:r>
            <a:r>
              <a:rPr lang="en-US" dirty="0" err="1"/>
              <a:t>umesto</a:t>
            </a:r>
            <a:r>
              <a:rPr lang="en-US" dirty="0"/>
              <a:t> da </a:t>
            </a:r>
            <a:r>
              <a:rPr lang="en-US" dirty="0" err="1"/>
              <a:t>uvek</a:t>
            </a:r>
            <a:r>
              <a:rPr lang="en-US" dirty="0"/>
              <a:t> </a:t>
            </a:r>
            <a:r>
              <a:rPr lang="en-US" dirty="0" err="1"/>
              <a:t>uzmemo</a:t>
            </a:r>
            <a:r>
              <a:rPr lang="en-US" dirty="0"/>
              <a:t> </a:t>
            </a:r>
            <a:r>
              <a:rPr lang="en-US" dirty="0" err="1"/>
              <a:t>najbolji</a:t>
            </a:r>
            <a:r>
              <a:rPr lang="en-US" dirty="0"/>
              <a:t> </a:t>
            </a:r>
            <a:r>
              <a:rPr lang="en-US" dirty="0" err="1"/>
              <a:t>potez</a:t>
            </a:r>
            <a:r>
              <a:rPr lang="en-US" dirty="0"/>
              <a:t>, </a:t>
            </a:r>
            <a:r>
              <a:rPr lang="en-US" dirty="0" err="1"/>
              <a:t>biramo</a:t>
            </a:r>
            <a:r>
              <a:rPr lang="en-US" dirty="0"/>
              <a:t> </a:t>
            </a:r>
            <a:r>
              <a:rPr lang="en-US" dirty="0" err="1"/>
              <a:t>nasumično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“</a:t>
            </a:r>
            <a:r>
              <a:rPr lang="en-US" dirty="0" err="1"/>
              <a:t>dovoljno</a:t>
            </a:r>
            <a:r>
              <a:rPr lang="en-US" dirty="0"/>
              <a:t> </a:t>
            </a:r>
            <a:r>
              <a:rPr lang="en-US" dirty="0" err="1"/>
              <a:t>dobrih</a:t>
            </a:r>
            <a:r>
              <a:rPr lang="en-US" dirty="0"/>
              <a:t>” </a:t>
            </a:r>
            <a:r>
              <a:rPr lang="en-US" dirty="0" err="1"/>
              <a:t>poteza</a:t>
            </a:r>
            <a:r>
              <a:rPr lang="en-US" dirty="0"/>
              <a:t>—time </a:t>
            </a:r>
            <a:r>
              <a:rPr lang="en-US" dirty="0" err="1"/>
              <a:t>dobijamo</a:t>
            </a:r>
            <a:r>
              <a:rPr lang="en-US" dirty="0"/>
              <a:t> </a:t>
            </a:r>
            <a:r>
              <a:rPr lang="en-US" dirty="0" err="1"/>
              <a:t>diversifikaciju</a:t>
            </a:r>
            <a:r>
              <a:rPr lang="en-US" dirty="0"/>
              <a:t> bez </a:t>
            </a:r>
            <a:r>
              <a:rPr lang="en-US" dirty="0" err="1"/>
              <a:t>potpunog</a:t>
            </a:r>
            <a:r>
              <a:rPr lang="en-US" dirty="0"/>
              <a:t> </a:t>
            </a:r>
            <a:r>
              <a:rPr lang="en-US" dirty="0" err="1"/>
              <a:t>haosa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227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8093-C1F6-4A55-AA9D-73CAD76AF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Kako GRASP radi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0F29A-EECD-44BC-8A9C-72B19A68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“</a:t>
            </a:r>
            <a:r>
              <a:rPr lang="en-US" dirty="0" err="1"/>
              <a:t>Ponavljam</a:t>
            </a:r>
            <a:r>
              <a:rPr lang="en-US" dirty="0"/>
              <a:t> </a:t>
            </a:r>
            <a:r>
              <a:rPr lang="en-US" dirty="0" err="1"/>
              <a:t>mnoge</a:t>
            </a:r>
            <a:r>
              <a:rPr lang="en-US" dirty="0"/>
              <a:t> </a:t>
            </a:r>
            <a:r>
              <a:rPr lang="en-US" dirty="0" err="1"/>
              <a:t>kratke</a:t>
            </a:r>
            <a:r>
              <a:rPr lang="en-US" dirty="0"/>
              <a:t> </a:t>
            </a:r>
            <a:r>
              <a:rPr lang="en-US" dirty="0" err="1"/>
              <a:t>pokušaje</a:t>
            </a:r>
            <a:r>
              <a:rPr lang="en-US" dirty="0"/>
              <a:t>”: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pokušaj</a:t>
            </a:r>
            <a:r>
              <a:rPr lang="en-US" dirty="0"/>
              <a:t> </a:t>
            </a:r>
            <a:r>
              <a:rPr lang="en-US" dirty="0" err="1"/>
              <a:t>napravi</a:t>
            </a:r>
            <a:r>
              <a:rPr lang="en-US" dirty="0"/>
              <a:t> novo </a:t>
            </a:r>
            <a:r>
              <a:rPr lang="en-US" dirty="0" err="1"/>
              <a:t>početno</a:t>
            </a:r>
            <a:r>
              <a:rPr lang="en-US" dirty="0"/>
              <a:t> </a:t>
            </a:r>
            <a:r>
              <a:rPr lang="en-US" dirty="0" err="1"/>
              <a:t>rešenje</a:t>
            </a:r>
            <a:r>
              <a:rPr lang="en-US" dirty="0"/>
              <a:t> (</a:t>
            </a:r>
            <a:r>
              <a:rPr lang="en-US" dirty="0" err="1"/>
              <a:t>konstrukcija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odmah</a:t>
            </a:r>
            <a:r>
              <a:rPr lang="en-US" dirty="0"/>
              <a:t> </a:t>
            </a:r>
            <a:r>
              <a:rPr lang="en-US" dirty="0" err="1"/>
              <a:t>ga</a:t>
            </a:r>
            <a:r>
              <a:rPr lang="en-US" dirty="0"/>
              <a:t> </a:t>
            </a:r>
            <a:r>
              <a:rPr lang="sr-Latn-RS" dirty="0"/>
              <a:t>dotera</a:t>
            </a:r>
            <a:r>
              <a:rPr lang="en-US" dirty="0"/>
              <a:t>(</a:t>
            </a:r>
            <a:r>
              <a:rPr lang="en-US" dirty="0" err="1"/>
              <a:t>lokalna</a:t>
            </a:r>
            <a:r>
              <a:rPr lang="en-US" dirty="0"/>
              <a:t> </a:t>
            </a:r>
            <a:r>
              <a:rPr lang="en-US" dirty="0" err="1"/>
              <a:t>pretraga</a:t>
            </a:r>
            <a:r>
              <a:rPr lang="en-US" dirty="0"/>
              <a:t>)</a:t>
            </a:r>
            <a:endParaRPr lang="sr-Latn-RS" dirty="0"/>
          </a:p>
          <a:p>
            <a:r>
              <a:rPr lang="en-US" dirty="0" err="1"/>
              <a:t>Zašto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: </a:t>
            </a:r>
            <a:r>
              <a:rPr lang="en-US" dirty="0" err="1"/>
              <a:t>konstrukcija</a:t>
            </a:r>
            <a:r>
              <a:rPr lang="en-US" dirty="0"/>
              <a:t> </a:t>
            </a:r>
            <a:r>
              <a:rPr lang="en-US" dirty="0" err="1"/>
              <a:t>daje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startne</a:t>
            </a:r>
            <a:r>
              <a:rPr lang="en-US" dirty="0"/>
              <a:t> </a:t>
            </a:r>
            <a:r>
              <a:rPr lang="en-US" dirty="0" err="1"/>
              <a:t>tačke</a:t>
            </a:r>
            <a:r>
              <a:rPr lang="en-US" dirty="0"/>
              <a:t> (</a:t>
            </a:r>
            <a:r>
              <a:rPr lang="en-US" dirty="0" err="1"/>
              <a:t>diversifikacija</a:t>
            </a:r>
            <a:r>
              <a:rPr lang="en-US" dirty="0"/>
              <a:t>), </a:t>
            </a:r>
            <a:r>
              <a:rPr lang="en-US" dirty="0" err="1"/>
              <a:t>lokalna</a:t>
            </a:r>
            <a:r>
              <a:rPr lang="en-US" dirty="0"/>
              <a:t> </a:t>
            </a:r>
            <a:r>
              <a:rPr lang="en-US" dirty="0" err="1"/>
              <a:t>pretraga</a:t>
            </a:r>
            <a:r>
              <a:rPr lang="en-US" dirty="0"/>
              <a:t> </a:t>
            </a:r>
            <a:r>
              <a:rPr lang="en-US" dirty="0" err="1"/>
              <a:t>brzo</a:t>
            </a:r>
            <a:r>
              <a:rPr lang="en-US" dirty="0"/>
              <a:t> </a:t>
            </a:r>
            <a:r>
              <a:rPr lang="en-US" dirty="0" err="1"/>
              <a:t>gura</a:t>
            </a:r>
            <a:r>
              <a:rPr lang="en-US" dirty="0"/>
              <a:t> </a:t>
            </a:r>
            <a:r>
              <a:rPr lang="en-US" dirty="0" err="1"/>
              <a:t>rešenje</a:t>
            </a:r>
            <a:r>
              <a:rPr lang="en-US" dirty="0"/>
              <a:t> do </a:t>
            </a:r>
            <a:r>
              <a:rPr lang="en-US" dirty="0" err="1"/>
              <a:t>lokalnog</a:t>
            </a:r>
            <a:r>
              <a:rPr lang="en-US" dirty="0"/>
              <a:t> </a:t>
            </a:r>
            <a:r>
              <a:rPr lang="en-US" dirty="0" err="1"/>
              <a:t>optimuma</a:t>
            </a:r>
            <a:r>
              <a:rPr lang="en-US" dirty="0"/>
              <a:t> (</a:t>
            </a:r>
            <a:r>
              <a:rPr lang="en-US" dirty="0" err="1"/>
              <a:t>intenzifikacija</a:t>
            </a:r>
            <a:r>
              <a:rPr lang="en-US" dirty="0"/>
              <a:t>)</a:t>
            </a:r>
            <a:endParaRPr lang="sr-Latn-RS" dirty="0"/>
          </a:p>
          <a:p>
            <a:r>
              <a:rPr lang="en-US" dirty="0"/>
              <a:t>GRASP je </a:t>
            </a:r>
            <a:r>
              <a:rPr lang="en-US" dirty="0" err="1"/>
              <a:t>okvir</a:t>
            </a:r>
            <a:r>
              <a:rPr lang="en-US" dirty="0"/>
              <a:t>: </a:t>
            </a:r>
            <a:r>
              <a:rPr lang="en-US" dirty="0" err="1"/>
              <a:t>konkretna</a:t>
            </a:r>
            <a:r>
              <a:rPr lang="en-US" dirty="0"/>
              <a:t> greedy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susedstvo</a:t>
            </a:r>
            <a:r>
              <a:rPr lang="en-US" dirty="0"/>
              <a:t> </a:t>
            </a:r>
            <a:r>
              <a:rPr lang="en-US" dirty="0" err="1"/>
              <a:t>lokalne</a:t>
            </a:r>
            <a:r>
              <a:rPr lang="en-US" dirty="0"/>
              <a:t> </a:t>
            </a:r>
            <a:r>
              <a:rPr lang="en-US" dirty="0" err="1"/>
              <a:t>pretrage</a:t>
            </a:r>
            <a:r>
              <a:rPr lang="en-US" dirty="0"/>
              <a:t> </a:t>
            </a:r>
            <a:r>
              <a:rPr lang="en-US" dirty="0" err="1"/>
              <a:t>zavise</a:t>
            </a:r>
            <a:r>
              <a:rPr lang="en-US" dirty="0"/>
              <a:t> od </a:t>
            </a:r>
            <a:r>
              <a:rPr lang="en-US" dirty="0" err="1"/>
              <a:t>problema</a:t>
            </a:r>
            <a:r>
              <a:rPr lang="en-US" dirty="0"/>
              <a:t> (TSP, set covering, </a:t>
            </a:r>
            <a:r>
              <a:rPr lang="en-US" dirty="0" err="1"/>
              <a:t>raspoređivanje</a:t>
            </a:r>
            <a:r>
              <a:rPr lang="en-US" dirty="0"/>
              <a:t>…)</a:t>
            </a:r>
            <a:endParaRPr lang="sr-Latn-RS" dirty="0"/>
          </a:p>
          <a:p>
            <a:endParaRPr lang="en-US" dirty="0"/>
          </a:p>
          <a:p>
            <a:r>
              <a:rPr lang="en-US" dirty="0"/>
              <a:t>  A[Start / </a:t>
            </a:r>
            <a:r>
              <a:rPr lang="en-US" dirty="0" err="1"/>
              <a:t>init</a:t>
            </a:r>
            <a:r>
              <a:rPr lang="en-US" dirty="0"/>
              <a:t> best] --&gt; B[Construction: greedy + random (RCL)]</a:t>
            </a:r>
          </a:p>
          <a:p>
            <a:r>
              <a:rPr lang="en-US" dirty="0"/>
              <a:t>  B --&gt; C[Local search: improve in neighborhood N(x)]</a:t>
            </a:r>
          </a:p>
          <a:p>
            <a:r>
              <a:rPr lang="en-US" dirty="0"/>
              <a:t>  C --&gt; D[Update best-so-far]</a:t>
            </a:r>
          </a:p>
          <a:p>
            <a:r>
              <a:rPr lang="en-US" dirty="0"/>
              <a:t>  D --&gt; E{Stop? time / iterations / no-improvement / target}</a:t>
            </a:r>
          </a:p>
          <a:p>
            <a:r>
              <a:rPr lang="en-US" dirty="0"/>
              <a:t>  E -- No --&gt; B</a:t>
            </a:r>
          </a:p>
          <a:p>
            <a:r>
              <a:rPr lang="en-US" dirty="0"/>
              <a:t>  E -- Yes --&gt; F[Return best]</a:t>
            </a:r>
          </a:p>
        </p:txBody>
      </p:sp>
    </p:spTree>
    <p:extLst>
      <p:ext uri="{BB962C8B-B14F-4D97-AF65-F5344CB8AC3E}">
        <p14:creationId xmlns:p14="http://schemas.microsoft.com/office/powerpoint/2010/main" val="885959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B25E89-8594-4E72-8F45-437D273ED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15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27C4-C165-4DB2-8E24-0D8690D2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</a:t>
            </a:r>
            <a:r>
              <a:rPr lang="en-US" b="1" dirty="0" err="1"/>
              <a:t>Parametar</a:t>
            </a:r>
            <a:r>
              <a:rPr lang="en-US" b="1" dirty="0"/>
              <a:t> </a:t>
            </a:r>
            <a:r>
              <a:rPr lang="el-GR" b="1" dirty="0"/>
              <a:t>α </a:t>
            </a:r>
            <a:r>
              <a:rPr lang="en-US" b="1" dirty="0" err="1"/>
              <a:t>i</a:t>
            </a:r>
            <a:r>
              <a:rPr lang="en-US" b="1" dirty="0"/>
              <a:t> RCL </a:t>
            </a:r>
            <a:r>
              <a:rPr lang="en-US" b="1" dirty="0" err="1"/>
              <a:t>strategije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4F069-7C81-4CAC-8A11-8DD4DB5AC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Value-based RCL : </a:t>
            </a:r>
            <a:r>
              <a:rPr lang="en-US" dirty="0" err="1"/>
              <a:t>dovoljno</a:t>
            </a:r>
            <a:r>
              <a:rPr lang="en-US" dirty="0"/>
              <a:t> </a:t>
            </a:r>
            <a:r>
              <a:rPr lang="en-US" dirty="0" err="1"/>
              <a:t>dobri</a:t>
            </a:r>
            <a:r>
              <a:rPr lang="en-US" dirty="0"/>
              <a:t> </a:t>
            </a:r>
            <a:r>
              <a:rPr lang="en-US" dirty="0" err="1"/>
              <a:t>kandidati</a:t>
            </a:r>
            <a:r>
              <a:rPr lang="en-US" dirty="0"/>
              <a:t> se </a:t>
            </a:r>
            <a:r>
              <a:rPr lang="en-US" dirty="0" err="1"/>
              <a:t>biraju</a:t>
            </a:r>
            <a:r>
              <a:rPr lang="en-US" dirty="0"/>
              <a:t> po </a:t>
            </a:r>
            <a:r>
              <a:rPr lang="en-US" dirty="0" err="1"/>
              <a:t>pragu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kontroliše</a:t>
            </a:r>
            <a:r>
              <a:rPr lang="en-US" dirty="0"/>
              <a:t> </a:t>
            </a:r>
            <a:r>
              <a:rPr lang="el-GR" dirty="0"/>
              <a:t>α; α </a:t>
            </a:r>
            <a:r>
              <a:rPr lang="en-US" dirty="0" err="1"/>
              <a:t>upravlja</a:t>
            </a:r>
            <a:r>
              <a:rPr lang="en-US" dirty="0"/>
              <a:t> </a:t>
            </a:r>
            <a:r>
              <a:rPr lang="en-US" dirty="0" err="1"/>
              <a:t>odnosom</a:t>
            </a:r>
            <a:r>
              <a:rPr lang="en-US" dirty="0"/>
              <a:t> </a:t>
            </a:r>
            <a:r>
              <a:rPr lang="en-US" dirty="0" err="1"/>
              <a:t>random↔greedy</a:t>
            </a:r>
            <a:endParaRPr lang="sr-Latn-RS" dirty="0"/>
          </a:p>
          <a:p>
            <a:r>
              <a:rPr lang="en-US" dirty="0" err="1"/>
              <a:t>Veći</a:t>
            </a:r>
            <a:r>
              <a:rPr lang="en-US" dirty="0"/>
              <a:t> </a:t>
            </a:r>
            <a:r>
              <a:rPr lang="el-GR" dirty="0"/>
              <a:t>α → </a:t>
            </a:r>
            <a:r>
              <a:rPr lang="en-US" dirty="0" err="1"/>
              <a:t>više</a:t>
            </a:r>
            <a:r>
              <a:rPr lang="en-US" dirty="0"/>
              <a:t> “greedy”, </a:t>
            </a:r>
            <a:r>
              <a:rPr lang="en-US" dirty="0" err="1"/>
              <a:t>brže</a:t>
            </a:r>
            <a:r>
              <a:rPr lang="en-US" dirty="0"/>
              <a:t>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manje</a:t>
            </a:r>
            <a:r>
              <a:rPr lang="en-US" dirty="0"/>
              <a:t> </a:t>
            </a:r>
            <a:r>
              <a:rPr lang="en-US" dirty="0" err="1"/>
              <a:t>raznovrsno</a:t>
            </a:r>
            <a:r>
              <a:rPr lang="en-US" dirty="0"/>
              <a:t>; </a:t>
            </a:r>
            <a:r>
              <a:rPr lang="en-US" dirty="0" err="1"/>
              <a:t>manji</a:t>
            </a:r>
            <a:r>
              <a:rPr lang="en-US" dirty="0"/>
              <a:t> </a:t>
            </a:r>
            <a:r>
              <a:rPr lang="el-GR" dirty="0"/>
              <a:t>α → </a:t>
            </a:r>
            <a:r>
              <a:rPr lang="en-US" dirty="0" err="1"/>
              <a:t>više</a:t>
            </a:r>
            <a:r>
              <a:rPr lang="en-US" dirty="0"/>
              <a:t> random, </a:t>
            </a:r>
            <a:r>
              <a:rPr lang="en-US" dirty="0" err="1"/>
              <a:t>šire</a:t>
            </a:r>
            <a:r>
              <a:rPr lang="en-US" dirty="0"/>
              <a:t> </a:t>
            </a:r>
            <a:r>
              <a:rPr lang="en-US" dirty="0" err="1"/>
              <a:t>pretraživanje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604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3717C-391B-4A5C-BD01-920551D82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Zašto</a:t>
            </a:r>
            <a:r>
              <a:rPr lang="en-US" b="1" dirty="0"/>
              <a:t> GRASP </a:t>
            </a:r>
            <a:r>
              <a:rPr lang="en-US" b="1" dirty="0" err="1"/>
              <a:t>tipično</a:t>
            </a:r>
            <a:r>
              <a:rPr lang="en-US" b="1" dirty="0"/>
              <a:t> </a:t>
            </a:r>
            <a:r>
              <a:rPr lang="en-US" b="1" dirty="0" err="1"/>
              <a:t>nadmašuje</a:t>
            </a:r>
            <a:r>
              <a:rPr lang="en-US" b="1" dirty="0"/>
              <a:t> brute-force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B568A-6013-466C-80EB-1083ED4A5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Kompleksnost</a:t>
            </a:r>
            <a:r>
              <a:rPr lang="en-US" dirty="0"/>
              <a:t>: brute-force za TSP </a:t>
            </a:r>
            <a:r>
              <a:rPr lang="en-US" dirty="0" err="1"/>
              <a:t>tipično</a:t>
            </a:r>
            <a:r>
              <a:rPr lang="en-US" dirty="0"/>
              <a:t> </a:t>
            </a:r>
            <a:r>
              <a:rPr lang="en-US" dirty="0" err="1"/>
              <a:t>enumeriše</a:t>
            </a:r>
            <a:r>
              <a:rPr lang="en-US" dirty="0"/>
              <a:t> </a:t>
            </a:r>
            <a:r>
              <a:rPr lang="en-US" dirty="0" err="1"/>
              <a:t>permutacije</a:t>
            </a:r>
            <a:r>
              <a:rPr lang="en-US" dirty="0"/>
              <a:t> (≈(n−1)! </a:t>
            </a:r>
            <a:r>
              <a:rPr lang="en-US" dirty="0" err="1"/>
              <a:t>ili</a:t>
            </a:r>
            <a:r>
              <a:rPr lang="en-US" dirty="0"/>
              <a:t> n!), pa </a:t>
            </a:r>
            <a:r>
              <a:rPr lang="en-US" dirty="0" err="1"/>
              <a:t>brzo</a:t>
            </a:r>
            <a:r>
              <a:rPr lang="en-US" dirty="0"/>
              <a:t> </a:t>
            </a:r>
            <a:r>
              <a:rPr lang="en-US" dirty="0" err="1"/>
              <a:t>postaje</a:t>
            </a:r>
            <a:r>
              <a:rPr lang="en-US" dirty="0"/>
              <a:t> </a:t>
            </a:r>
            <a:r>
              <a:rPr lang="en-US" dirty="0" err="1"/>
              <a:t>neizvodljiv</a:t>
            </a:r>
            <a:endParaRPr lang="sr-Latn-RS" dirty="0"/>
          </a:p>
          <a:p>
            <a:r>
              <a:rPr lang="en-US" dirty="0"/>
              <a:t>GRASP po </a:t>
            </a:r>
            <a:r>
              <a:rPr lang="en-US" dirty="0" err="1"/>
              <a:t>iteraciji</a:t>
            </a:r>
            <a:r>
              <a:rPr lang="en-US" dirty="0"/>
              <a:t> </a:t>
            </a:r>
            <a:r>
              <a:rPr lang="en-US" dirty="0" err="1"/>
              <a:t>obično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polinomijaln</a:t>
            </a:r>
            <a:r>
              <a:rPr lang="sr-Latn-RS" dirty="0"/>
              <a:t>o </a:t>
            </a:r>
            <a:r>
              <a:rPr lang="en-US" dirty="0"/>
              <a:t>(</a:t>
            </a:r>
            <a:r>
              <a:rPr lang="en-US" dirty="0" err="1"/>
              <a:t>konstrukcija</a:t>
            </a:r>
            <a:r>
              <a:rPr lang="en-US" dirty="0"/>
              <a:t> + </a:t>
            </a:r>
            <a:r>
              <a:rPr lang="en-US" dirty="0" err="1"/>
              <a:t>lokalna</a:t>
            </a:r>
            <a:r>
              <a:rPr lang="en-US" dirty="0"/>
              <a:t> </a:t>
            </a:r>
            <a:r>
              <a:rPr lang="en-US" dirty="0" err="1"/>
              <a:t>pretraga</a:t>
            </a:r>
            <a:r>
              <a:rPr lang="en-US" dirty="0"/>
              <a:t>), pa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obradi</a:t>
            </a:r>
            <a:r>
              <a:rPr lang="en-US" dirty="0"/>
              <a:t> </a:t>
            </a:r>
            <a:r>
              <a:rPr lang="en-US" dirty="0" err="1"/>
              <a:t>veće</a:t>
            </a:r>
            <a:r>
              <a:rPr lang="en-US" dirty="0"/>
              <a:t> n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kontrolisan</a:t>
            </a:r>
            <a:r>
              <a:rPr lang="en-US" dirty="0"/>
              <a:t> </a:t>
            </a:r>
            <a:r>
              <a:rPr lang="en-US" dirty="0" err="1"/>
              <a:t>budžet</a:t>
            </a:r>
            <a:r>
              <a:rPr lang="en-US" dirty="0"/>
              <a:t> </a:t>
            </a:r>
            <a:r>
              <a:rPr lang="en-US" dirty="0" err="1"/>
              <a:t>iteracija</a:t>
            </a:r>
            <a:r>
              <a:rPr lang="en-US" dirty="0"/>
              <a:t>/</a:t>
            </a:r>
            <a:r>
              <a:rPr lang="en-US" dirty="0" err="1"/>
              <a:t>vremena</a:t>
            </a:r>
            <a:endParaRPr lang="sr-Latn-RS" dirty="0"/>
          </a:p>
          <a:p>
            <a:r>
              <a:rPr lang="en-US" dirty="0"/>
              <a:t>Anytime: </a:t>
            </a:r>
            <a:r>
              <a:rPr lang="en-US" dirty="0" err="1"/>
              <a:t>posle</a:t>
            </a:r>
            <a:r>
              <a:rPr lang="en-US" dirty="0"/>
              <a:t> </a:t>
            </a:r>
            <a:r>
              <a:rPr lang="en-US" dirty="0" err="1"/>
              <a:t>svake</a:t>
            </a:r>
            <a:r>
              <a:rPr lang="en-US" dirty="0"/>
              <a:t> </a:t>
            </a:r>
            <a:r>
              <a:rPr lang="en-US" dirty="0" err="1"/>
              <a:t>iteracije</a:t>
            </a:r>
            <a:r>
              <a:rPr lang="en-US" dirty="0"/>
              <a:t> imam </a:t>
            </a:r>
            <a:r>
              <a:rPr lang="en-US" dirty="0" err="1"/>
              <a:t>validno</a:t>
            </a:r>
            <a:r>
              <a:rPr lang="en-US" dirty="0"/>
              <a:t> “best-so-far” </a:t>
            </a:r>
            <a:r>
              <a:rPr lang="en-US" dirty="0" err="1"/>
              <a:t>rešenje</a:t>
            </a:r>
            <a:r>
              <a:rPr lang="en-US" dirty="0"/>
              <a:t>;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duže</a:t>
            </a:r>
            <a:r>
              <a:rPr lang="en-US" dirty="0"/>
              <a:t> </a:t>
            </a:r>
            <a:r>
              <a:rPr lang="en-US" dirty="0" err="1"/>
              <a:t>radi</a:t>
            </a:r>
            <a:r>
              <a:rPr lang="en-US" dirty="0"/>
              <a:t>, </a:t>
            </a:r>
            <a:r>
              <a:rPr lang="en-US" dirty="0" err="1"/>
              <a:t>veća</a:t>
            </a:r>
            <a:r>
              <a:rPr lang="en-US" dirty="0"/>
              <a:t> </a:t>
            </a:r>
            <a:r>
              <a:rPr lang="en-US" dirty="0" err="1"/>
              <a:t>šansa</a:t>
            </a:r>
            <a:r>
              <a:rPr lang="en-US" dirty="0"/>
              <a:t> da se </a:t>
            </a:r>
            <a:r>
              <a:rPr lang="en-US" dirty="0" err="1"/>
              <a:t>popravi</a:t>
            </a:r>
            <a:endParaRPr lang="sr-Latn-RS" dirty="0"/>
          </a:p>
          <a:p>
            <a:r>
              <a:rPr lang="en-US" dirty="0" err="1"/>
              <a:t>Paralelizacija</a:t>
            </a:r>
            <a:r>
              <a:rPr lang="en-US" dirty="0"/>
              <a:t>: </a:t>
            </a:r>
            <a:r>
              <a:rPr lang="en-US" dirty="0" err="1"/>
              <a:t>pošto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iteracije</a:t>
            </a:r>
            <a:r>
              <a:rPr lang="en-US" dirty="0"/>
              <a:t> u </a:t>
            </a:r>
            <a:r>
              <a:rPr lang="en-US" dirty="0" err="1"/>
              <a:t>suštini</a:t>
            </a:r>
            <a:r>
              <a:rPr lang="en-US" dirty="0"/>
              <a:t> </a:t>
            </a:r>
            <a:r>
              <a:rPr lang="en-US" dirty="0" err="1"/>
              <a:t>nezavisni</a:t>
            </a:r>
            <a:r>
              <a:rPr lang="en-US" dirty="0"/>
              <a:t> </a:t>
            </a:r>
            <a:r>
              <a:rPr lang="en-US" dirty="0" err="1"/>
              <a:t>pokušaji</a:t>
            </a:r>
            <a:r>
              <a:rPr lang="en-US" dirty="0"/>
              <a:t> (multi-start), </a:t>
            </a:r>
            <a:r>
              <a:rPr lang="en-US" dirty="0" err="1"/>
              <a:t>prirodno</a:t>
            </a:r>
            <a:r>
              <a:rPr lang="en-US" dirty="0"/>
              <a:t> je </a:t>
            </a:r>
            <a:r>
              <a:rPr lang="en-US" dirty="0" err="1"/>
              <a:t>pokrenuti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instanci</a:t>
            </a:r>
            <a:r>
              <a:rPr lang="en-US" dirty="0"/>
              <a:t> </a:t>
            </a:r>
            <a:r>
              <a:rPr lang="en-US" dirty="0" err="1"/>
              <a:t>paralelno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uzeti</a:t>
            </a:r>
            <a:r>
              <a:rPr lang="en-US" dirty="0"/>
              <a:t> minimum (</a:t>
            </a:r>
            <a:r>
              <a:rPr lang="en-US" dirty="0" err="1"/>
              <a:t>najbolje</a:t>
            </a:r>
            <a:r>
              <a:rPr lang="en-US" dirty="0"/>
              <a:t>)</a:t>
            </a:r>
            <a:endParaRPr lang="sr-Latn-R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145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34DF-0A2E-4B08-946A-3C8C7BF41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sz="4400" dirty="0"/>
              <a:t>Problem mreže za vanredne situacije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76D6A-42FB-466F-9581-1C620F8ED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Cilj</a:t>
            </a:r>
            <a:r>
              <a:rPr lang="en-US" b="1" dirty="0"/>
              <a:t>: </a:t>
            </a:r>
            <a:r>
              <a:rPr lang="en-US" b="1" dirty="0" err="1"/>
              <a:t>Pouzdana</a:t>
            </a:r>
            <a:r>
              <a:rPr lang="en-US" b="1" dirty="0"/>
              <a:t> </a:t>
            </a:r>
            <a:r>
              <a:rPr lang="en-US" b="1" dirty="0" err="1"/>
              <a:t>komunikacija</a:t>
            </a:r>
            <a:r>
              <a:rPr lang="en-US" b="1" dirty="0"/>
              <a:t> u </a:t>
            </a:r>
            <a:r>
              <a:rPr lang="en-US" b="1" dirty="0" err="1"/>
              <a:t>vanrednim</a:t>
            </a:r>
            <a:r>
              <a:rPr lang="en-US" b="1" dirty="0"/>
              <a:t> </a:t>
            </a:r>
            <a:r>
              <a:rPr lang="en-US" b="1" dirty="0" err="1"/>
              <a:t>situacijama</a:t>
            </a:r>
            <a:endParaRPr lang="en-US" b="1" dirty="0"/>
          </a:p>
          <a:p>
            <a:pPr lvl="1"/>
            <a:r>
              <a:rPr lang="en-US" dirty="0" err="1"/>
              <a:t>Povezati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čvorove</a:t>
            </a:r>
            <a:r>
              <a:rPr lang="en-US" dirty="0"/>
              <a:t> </a:t>
            </a:r>
            <a:r>
              <a:rPr lang="en-US" dirty="0" err="1"/>
              <a:t>mreže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minimalan</a:t>
            </a:r>
            <a:r>
              <a:rPr lang="en-US" dirty="0"/>
              <a:t> </a:t>
            </a:r>
            <a:r>
              <a:rPr lang="en-US" dirty="0" err="1"/>
              <a:t>trošak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visoku</a:t>
            </a:r>
            <a:r>
              <a:rPr lang="en-US" dirty="0"/>
              <a:t> </a:t>
            </a:r>
            <a:r>
              <a:rPr lang="en-US" dirty="0" err="1"/>
              <a:t>pouzdanost</a:t>
            </a:r>
            <a:endParaRPr lang="sr-Latn-RS" dirty="0"/>
          </a:p>
          <a:p>
            <a:r>
              <a:rPr lang="en-US" b="1" dirty="0" err="1"/>
              <a:t>Kazna</a:t>
            </a:r>
            <a:r>
              <a:rPr lang="en-US" b="1" dirty="0"/>
              <a:t> </a:t>
            </a:r>
            <a:r>
              <a:rPr lang="en-US" b="1" dirty="0" err="1"/>
              <a:t>zbog</a:t>
            </a:r>
            <a:r>
              <a:rPr lang="en-US" b="1" dirty="0"/>
              <a:t> </a:t>
            </a:r>
            <a:r>
              <a:rPr lang="en-US" b="1" dirty="0" err="1"/>
              <a:t>nepouzdanosti</a:t>
            </a:r>
            <a:r>
              <a:rPr lang="en-US" b="1" dirty="0"/>
              <a:t> </a:t>
            </a:r>
            <a:r>
              <a:rPr lang="en-US" b="1" dirty="0" err="1"/>
              <a:t>čvora</a:t>
            </a:r>
            <a:endParaRPr lang="en-US" b="1" dirty="0"/>
          </a:p>
          <a:p>
            <a:pPr lvl="1"/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čvor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kaznu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odražava</a:t>
            </a:r>
            <a:r>
              <a:rPr lang="en-US" dirty="0"/>
              <a:t> </a:t>
            </a:r>
            <a:r>
              <a:rPr lang="en-US" dirty="0" err="1"/>
              <a:t>njegov</a:t>
            </a:r>
            <a:r>
              <a:rPr lang="en-US" dirty="0"/>
              <a:t> </a:t>
            </a:r>
            <a:r>
              <a:rPr lang="en-US" dirty="0" err="1"/>
              <a:t>rizik</a:t>
            </a:r>
            <a:r>
              <a:rPr lang="en-US" dirty="0"/>
              <a:t> </a:t>
            </a:r>
            <a:r>
              <a:rPr lang="en-US" dirty="0" err="1"/>
              <a:t>nepouzdanosti</a:t>
            </a:r>
            <a:r>
              <a:rPr lang="en-US" dirty="0"/>
              <a:t>.</a:t>
            </a:r>
          </a:p>
          <a:p>
            <a:r>
              <a:rPr lang="en-US" b="1" dirty="0" err="1"/>
              <a:t>Ukupan</a:t>
            </a:r>
            <a:r>
              <a:rPr lang="en-US" b="1" dirty="0"/>
              <a:t> </a:t>
            </a:r>
            <a:r>
              <a:rPr lang="en-US" b="1" dirty="0" err="1"/>
              <a:t>obračun</a:t>
            </a:r>
            <a:r>
              <a:rPr lang="en-US" b="1" dirty="0"/>
              <a:t> </a:t>
            </a:r>
            <a:r>
              <a:rPr lang="en-US" b="1" dirty="0" err="1"/>
              <a:t>troška</a:t>
            </a:r>
            <a:endParaRPr lang="en-US" b="1" dirty="0"/>
          </a:p>
          <a:p>
            <a:pPr lvl="1"/>
            <a:r>
              <a:rPr lang="en-US" dirty="0" err="1"/>
              <a:t>Zbir</a:t>
            </a:r>
            <a:r>
              <a:rPr lang="en-US" dirty="0"/>
              <a:t> </a:t>
            </a:r>
            <a:r>
              <a:rPr lang="en-US" dirty="0" err="1"/>
              <a:t>troškova</a:t>
            </a:r>
            <a:r>
              <a:rPr lang="en-US" dirty="0"/>
              <a:t> </a:t>
            </a:r>
            <a:r>
              <a:rPr lang="en-US" dirty="0" err="1"/>
              <a:t>povezivanja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kazni</a:t>
            </a:r>
            <a:r>
              <a:rPr lang="en-US" dirty="0"/>
              <a:t> za </a:t>
            </a:r>
            <a:r>
              <a:rPr lang="en-US" dirty="0" err="1"/>
              <a:t>pouzdanost</a:t>
            </a:r>
            <a:r>
              <a:rPr lang="en-US" dirty="0"/>
              <a:t> za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čvorove</a:t>
            </a:r>
            <a:r>
              <a:rPr lang="en-US" dirty="0"/>
              <a:t>.</a:t>
            </a:r>
          </a:p>
          <a:p>
            <a:r>
              <a:rPr lang="en-US" b="1" dirty="0" err="1"/>
              <a:t>Izazov</a:t>
            </a:r>
            <a:r>
              <a:rPr lang="en-US" b="1" dirty="0"/>
              <a:t>: </a:t>
            </a:r>
            <a:r>
              <a:rPr lang="en-US" b="1" dirty="0" err="1"/>
              <a:t>Optimalan</a:t>
            </a:r>
            <a:r>
              <a:rPr lang="en-US" b="1" dirty="0"/>
              <a:t> </a:t>
            </a:r>
            <a:r>
              <a:rPr lang="en-US" b="1" dirty="0" err="1"/>
              <a:t>redosled</a:t>
            </a:r>
            <a:r>
              <a:rPr lang="en-US" b="1" dirty="0"/>
              <a:t> </a:t>
            </a:r>
            <a:r>
              <a:rPr lang="en-US" b="1" dirty="0" err="1"/>
              <a:t>obilaska</a:t>
            </a:r>
            <a:endParaRPr lang="en-US" b="1" dirty="0"/>
          </a:p>
          <a:p>
            <a:pPr lvl="1"/>
            <a:r>
              <a:rPr lang="en-US" dirty="0" err="1"/>
              <a:t>Pronaći</a:t>
            </a:r>
            <a:r>
              <a:rPr lang="en-US" dirty="0"/>
              <a:t> </a:t>
            </a:r>
            <a:r>
              <a:rPr lang="en-US" dirty="0" err="1"/>
              <a:t>najbolju</a:t>
            </a:r>
            <a:r>
              <a:rPr lang="en-US" dirty="0"/>
              <a:t> </a:t>
            </a:r>
            <a:r>
              <a:rPr lang="en-US" dirty="0" err="1"/>
              <a:t>sekvencu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bi se </a:t>
            </a:r>
            <a:r>
              <a:rPr lang="en-US" dirty="0" err="1"/>
              <a:t>minimizovao</a:t>
            </a:r>
            <a:r>
              <a:rPr lang="en-US" dirty="0"/>
              <a:t> </a:t>
            </a:r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trošak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maksimizovala</a:t>
            </a:r>
            <a:r>
              <a:rPr lang="en-US" dirty="0"/>
              <a:t> </a:t>
            </a:r>
            <a:r>
              <a:rPr lang="en-US" dirty="0" err="1"/>
              <a:t>pouzdanost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038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AFCD-ED91-477B-B955-3A92BF37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Implementacija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9F328-6C2F-4A3F-B020-282B1FC7F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</a:t>
            </a:r>
            <a:r>
              <a:rPr lang="en-US" dirty="0" err="1"/>
              <a:t>izgleda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TSP‑</a:t>
            </a:r>
            <a:r>
              <a:rPr lang="en-US" dirty="0" err="1"/>
              <a:t>varijanta</a:t>
            </a:r>
            <a:r>
              <a:rPr lang="en-US" dirty="0"/>
              <a:t>: </a:t>
            </a:r>
            <a:r>
              <a:rPr lang="en-US" dirty="0" err="1"/>
              <a:t>tražim</a:t>
            </a:r>
            <a:r>
              <a:rPr lang="en-US" dirty="0"/>
              <a:t> </a:t>
            </a:r>
            <a:r>
              <a:rPr lang="en-US" dirty="0" err="1"/>
              <a:t>turu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čvorove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povratkom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start,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trošak</a:t>
            </a:r>
            <a:r>
              <a:rPr lang="en-US" dirty="0"/>
              <a:t> </a:t>
            </a:r>
            <a:r>
              <a:rPr lang="en-US" dirty="0" err="1"/>
              <a:t>ivica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dodatni</a:t>
            </a:r>
            <a:r>
              <a:rPr lang="en-US" dirty="0"/>
              <a:t> penal </a:t>
            </a:r>
            <a:r>
              <a:rPr lang="en-US" dirty="0" err="1"/>
              <a:t>pouzdanosti</a:t>
            </a:r>
            <a:r>
              <a:rPr lang="en-US" dirty="0"/>
              <a:t> po </a:t>
            </a:r>
            <a:r>
              <a:rPr lang="en-US" dirty="0" err="1"/>
              <a:t>posećenom</a:t>
            </a:r>
            <a:r>
              <a:rPr lang="en-US" dirty="0"/>
              <a:t> </a:t>
            </a:r>
            <a:r>
              <a:rPr lang="en-US" dirty="0" err="1"/>
              <a:t>čvoru</a:t>
            </a:r>
            <a:endParaRPr lang="sr-Latn-RS" dirty="0"/>
          </a:p>
          <a:p>
            <a:r>
              <a:rPr lang="en-US" dirty="0" err="1"/>
              <a:t>Konstrukcija</a:t>
            </a:r>
            <a:r>
              <a:rPr lang="en-US" dirty="0"/>
              <a:t>: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trenutnog</a:t>
            </a:r>
            <a:r>
              <a:rPr lang="en-US" dirty="0"/>
              <a:t> </a:t>
            </a:r>
            <a:r>
              <a:rPr lang="en-US" dirty="0" err="1"/>
              <a:t>čvora</a:t>
            </a:r>
            <a:r>
              <a:rPr lang="en-US" dirty="0"/>
              <a:t> </a:t>
            </a:r>
            <a:r>
              <a:rPr lang="en-US" dirty="0" err="1"/>
              <a:t>rangiram</a:t>
            </a:r>
            <a:r>
              <a:rPr lang="en-US" dirty="0"/>
              <a:t> </a:t>
            </a:r>
            <a:r>
              <a:rPr lang="en-US" dirty="0" err="1"/>
              <a:t>kandidate</a:t>
            </a:r>
            <a:r>
              <a:rPr lang="en-US" dirty="0"/>
              <a:t> po (</a:t>
            </a:r>
            <a:r>
              <a:rPr lang="en-US" dirty="0" err="1"/>
              <a:t>udaljenost</a:t>
            </a:r>
            <a:r>
              <a:rPr lang="en-US" dirty="0"/>
              <a:t> + penal)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obično</a:t>
            </a:r>
            <a:r>
              <a:rPr lang="en-US" dirty="0"/>
              <a:t> </a:t>
            </a:r>
            <a:r>
              <a:rPr lang="en-US" dirty="0" err="1"/>
              <a:t>biram</a:t>
            </a:r>
            <a:r>
              <a:rPr lang="en-US" dirty="0"/>
              <a:t> </a:t>
            </a:r>
            <a:r>
              <a:rPr lang="en-US" dirty="0" err="1"/>
              <a:t>najbolji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ponekad</a:t>
            </a:r>
            <a:r>
              <a:rPr lang="en-US" dirty="0"/>
              <a:t> </a:t>
            </a:r>
            <a:r>
              <a:rPr lang="en-US" dirty="0" err="1"/>
              <a:t>biram</a:t>
            </a:r>
            <a:r>
              <a:rPr lang="en-US" dirty="0"/>
              <a:t> </a:t>
            </a:r>
            <a:r>
              <a:rPr lang="en-US" dirty="0" err="1"/>
              <a:t>nasumično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“top‑k” (RCL‑</a:t>
            </a:r>
            <a:r>
              <a:rPr lang="en-US" dirty="0" err="1"/>
              <a:t>nalik</a:t>
            </a:r>
            <a:r>
              <a:rPr lang="en-US" dirty="0"/>
              <a:t>) </a:t>
            </a:r>
            <a:r>
              <a:rPr lang="en-US" dirty="0" err="1"/>
              <a:t>liste</a:t>
            </a:r>
            <a:endParaRPr lang="sr-Latn-RS" dirty="0"/>
          </a:p>
          <a:p>
            <a:r>
              <a:rPr lang="en-US" dirty="0" err="1"/>
              <a:t>Parametrizacija</a:t>
            </a:r>
            <a:r>
              <a:rPr lang="en-US" dirty="0"/>
              <a:t>:</a:t>
            </a:r>
            <a:r>
              <a:rPr lang="sr-Latn-RS" dirty="0"/>
              <a:t> iterations = 30; </a:t>
            </a:r>
            <a:r>
              <a:rPr lang="en-US" dirty="0"/>
              <a:t>“greediness” se </a:t>
            </a:r>
            <a:r>
              <a:rPr lang="en-US" dirty="0" err="1"/>
              <a:t>menja</a:t>
            </a:r>
            <a:r>
              <a:rPr lang="en-US" dirty="0"/>
              <a:t> po </a:t>
            </a:r>
            <a:r>
              <a:rPr lang="en-US" dirty="0" err="1"/>
              <a:t>iteraciji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0.9 − it/iterations,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rano</a:t>
            </a:r>
            <a:r>
              <a:rPr lang="en-US" dirty="0"/>
              <a:t> </a:t>
            </a:r>
            <a:r>
              <a:rPr lang="en-US" dirty="0" err="1"/>
              <a:t>zaustavljanje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15 </a:t>
            </a:r>
            <a:r>
              <a:rPr lang="en-US" dirty="0" err="1"/>
              <a:t>iteracija</a:t>
            </a:r>
            <a:r>
              <a:rPr lang="en-US" dirty="0"/>
              <a:t> </a:t>
            </a:r>
            <a:r>
              <a:rPr lang="en-US" dirty="0" err="1"/>
              <a:t>nema</a:t>
            </a:r>
            <a:r>
              <a:rPr lang="en-US" dirty="0"/>
              <a:t> </a:t>
            </a:r>
            <a:r>
              <a:rPr lang="en-US" dirty="0" err="1"/>
              <a:t>poboljšanja</a:t>
            </a:r>
            <a:endParaRPr lang="sr-Latn-RS" dirty="0"/>
          </a:p>
          <a:p>
            <a:r>
              <a:rPr lang="en-US" dirty="0" err="1"/>
              <a:t>Lokalna</a:t>
            </a:r>
            <a:r>
              <a:rPr lang="en-US" dirty="0"/>
              <a:t> </a:t>
            </a:r>
            <a:r>
              <a:rPr lang="en-US" dirty="0" err="1"/>
              <a:t>pretraga</a:t>
            </a:r>
            <a:r>
              <a:rPr lang="en-US" dirty="0"/>
              <a:t>: 2‑opt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turi</a:t>
            </a:r>
            <a:r>
              <a:rPr lang="en-US" dirty="0"/>
              <a:t> (</a:t>
            </a:r>
            <a:r>
              <a:rPr lang="en-US" dirty="0" err="1"/>
              <a:t>reverzije</a:t>
            </a:r>
            <a:r>
              <a:rPr lang="en-US" dirty="0"/>
              <a:t> </a:t>
            </a:r>
            <a:r>
              <a:rPr lang="en-US" dirty="0" err="1"/>
              <a:t>segmenata</a:t>
            </a:r>
            <a:r>
              <a:rPr lang="en-US" dirty="0"/>
              <a:t>) </a:t>
            </a:r>
            <a:r>
              <a:rPr lang="en-US" dirty="0" err="1"/>
              <a:t>ponavljana</a:t>
            </a:r>
            <a:r>
              <a:rPr lang="en-US" dirty="0"/>
              <a:t> </a:t>
            </a:r>
            <a:r>
              <a:rPr lang="en-US" dirty="0" err="1"/>
              <a:t>dok</a:t>
            </a:r>
            <a:r>
              <a:rPr lang="en-US" dirty="0"/>
              <a:t> god </a:t>
            </a:r>
            <a:r>
              <a:rPr lang="en-US" dirty="0" err="1"/>
              <a:t>nađe</a:t>
            </a:r>
            <a:r>
              <a:rPr lang="en-US" dirty="0"/>
              <a:t> </a:t>
            </a:r>
            <a:r>
              <a:rPr lang="en-US" dirty="0" err="1"/>
              <a:t>poboljšanje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54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767C83-55E8-4FFC-96B4-E8FB44A9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5" y="133165"/>
            <a:ext cx="5220069" cy="27609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BEAEE3-6C12-4B3B-9649-E6FF15BC6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3165"/>
            <a:ext cx="5937039" cy="2760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EECA35-4E88-42F1-9C7E-058696A56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30" y="3192402"/>
            <a:ext cx="5220070" cy="30241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72B63C-3F4C-4555-A4F3-C716007FF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192402"/>
            <a:ext cx="5937039" cy="3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63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D514-DE49-4FE0-8CA1-D5C60FA4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Problem turiste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04625-63DB-4A4E-B981-CC2062A59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err="1"/>
              <a:t>Cilj</a:t>
            </a:r>
            <a:r>
              <a:rPr lang="en-US" b="1" dirty="0"/>
              <a:t>: </a:t>
            </a:r>
            <a:r>
              <a:rPr lang="en-US" b="1" dirty="0" err="1"/>
              <a:t>Optimalna</a:t>
            </a:r>
            <a:r>
              <a:rPr lang="en-US" b="1" dirty="0"/>
              <a:t> </a:t>
            </a:r>
            <a:r>
              <a:rPr lang="en-US" b="1" dirty="0" err="1"/>
              <a:t>turistička</a:t>
            </a:r>
            <a:r>
              <a:rPr lang="en-US" b="1" dirty="0"/>
              <a:t> </a:t>
            </a:r>
            <a:r>
              <a:rPr lang="en-US" b="1" dirty="0" err="1"/>
              <a:t>ruta</a:t>
            </a:r>
            <a:endParaRPr lang="en-US" b="1" dirty="0"/>
          </a:p>
          <a:p>
            <a:pPr lvl="1"/>
            <a:r>
              <a:rPr lang="en-US" dirty="0" err="1"/>
              <a:t>Pronaći</a:t>
            </a:r>
            <a:r>
              <a:rPr lang="en-US" dirty="0"/>
              <a:t> </a:t>
            </a:r>
            <a:r>
              <a:rPr lang="en-US" dirty="0" err="1"/>
              <a:t>najkraću</a:t>
            </a:r>
            <a:r>
              <a:rPr lang="en-US" dirty="0"/>
              <a:t> </a:t>
            </a:r>
            <a:r>
              <a:rPr lang="en-US" dirty="0" err="1"/>
              <a:t>rutu</a:t>
            </a:r>
            <a:r>
              <a:rPr lang="en-US" dirty="0"/>
              <a:t> </a:t>
            </a:r>
            <a:r>
              <a:rPr lang="en-US" dirty="0" err="1"/>
              <a:t>obilaska</a:t>
            </a:r>
            <a:r>
              <a:rPr lang="en-US" dirty="0"/>
              <a:t>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turističkih</a:t>
            </a:r>
            <a:r>
              <a:rPr lang="en-US" dirty="0"/>
              <a:t> </a:t>
            </a:r>
            <a:r>
              <a:rPr lang="en-US" dirty="0" err="1"/>
              <a:t>atrakcija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njihovih</a:t>
            </a:r>
            <a:r>
              <a:rPr lang="en-US" dirty="0"/>
              <a:t> </a:t>
            </a:r>
            <a:r>
              <a:rPr lang="en-US" dirty="0" err="1"/>
              <a:t>koordinata</a:t>
            </a:r>
            <a:r>
              <a:rPr lang="en-US" dirty="0"/>
              <a:t>.</a:t>
            </a:r>
          </a:p>
          <a:p>
            <a:r>
              <a:rPr lang="en-US" b="1" dirty="0"/>
              <a:t>Problem </a:t>
            </a:r>
            <a:r>
              <a:rPr lang="en-US" b="1" dirty="0" err="1"/>
              <a:t>obilaska</a:t>
            </a:r>
            <a:r>
              <a:rPr lang="en-US" b="1" dirty="0"/>
              <a:t> </a:t>
            </a:r>
            <a:r>
              <a:rPr lang="en-US" b="1" dirty="0" err="1"/>
              <a:t>svih</a:t>
            </a:r>
            <a:r>
              <a:rPr lang="en-US" b="1" dirty="0"/>
              <a:t> </a:t>
            </a:r>
            <a:r>
              <a:rPr lang="en-US" b="1" dirty="0" err="1"/>
              <a:t>lokacija</a:t>
            </a:r>
            <a:endParaRPr lang="en-US" b="1" dirty="0"/>
          </a:p>
          <a:p>
            <a:pPr lvl="1"/>
            <a:r>
              <a:rPr lang="en-US" dirty="0"/>
              <a:t>Turista </a:t>
            </a:r>
            <a:r>
              <a:rPr lang="en-US" dirty="0" err="1"/>
              <a:t>želi</a:t>
            </a:r>
            <a:r>
              <a:rPr lang="en-US" dirty="0"/>
              <a:t> da </a:t>
            </a:r>
            <a:r>
              <a:rPr lang="en-US" dirty="0" err="1"/>
              <a:t>obiđe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zadate</a:t>
            </a:r>
            <a:r>
              <a:rPr lang="en-US" dirty="0"/>
              <a:t> </a:t>
            </a:r>
            <a:r>
              <a:rPr lang="en-US" dirty="0" err="1"/>
              <a:t>atrakcije</a:t>
            </a:r>
            <a:r>
              <a:rPr lang="en-US" dirty="0"/>
              <a:t>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da se </a:t>
            </a:r>
            <a:r>
              <a:rPr lang="en-US" dirty="0" err="1"/>
              <a:t>vrati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početnu</a:t>
            </a:r>
            <a:r>
              <a:rPr lang="en-US" dirty="0"/>
              <a:t> </a:t>
            </a:r>
            <a:r>
              <a:rPr lang="en-US" dirty="0" err="1"/>
              <a:t>lokaciju</a:t>
            </a:r>
            <a:r>
              <a:rPr lang="en-US" dirty="0"/>
              <a:t>.</a:t>
            </a:r>
          </a:p>
          <a:p>
            <a:r>
              <a:rPr lang="en-US" b="1" dirty="0" err="1"/>
              <a:t>Rastojanje</a:t>
            </a:r>
            <a:r>
              <a:rPr lang="en-US" b="1" dirty="0"/>
              <a:t> </a:t>
            </a:r>
            <a:r>
              <a:rPr lang="en-US" b="1" dirty="0" err="1"/>
              <a:t>između</a:t>
            </a:r>
            <a:r>
              <a:rPr lang="en-US" b="1" dirty="0"/>
              <a:t> </a:t>
            </a:r>
            <a:r>
              <a:rPr lang="en-US" b="1" dirty="0" err="1"/>
              <a:t>atrakcija</a:t>
            </a:r>
            <a:endParaRPr lang="en-US" b="1" dirty="0"/>
          </a:p>
          <a:p>
            <a:pPr lvl="1"/>
            <a:r>
              <a:rPr lang="en-US" dirty="0" err="1"/>
              <a:t>Udaljenost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svake</a:t>
            </a:r>
            <a:r>
              <a:rPr lang="en-US" dirty="0"/>
              <a:t> </a:t>
            </a:r>
            <a:r>
              <a:rPr lang="en-US" dirty="0" err="1"/>
              <a:t>dve</a:t>
            </a:r>
            <a:r>
              <a:rPr lang="en-US" dirty="0"/>
              <a:t> </a:t>
            </a:r>
            <a:r>
              <a:rPr lang="en-US" dirty="0" err="1"/>
              <a:t>atrakcije</a:t>
            </a:r>
            <a:r>
              <a:rPr lang="en-US" dirty="0"/>
              <a:t> </a:t>
            </a:r>
            <a:r>
              <a:rPr lang="en-US" dirty="0" err="1"/>
              <a:t>računa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njihovih</a:t>
            </a:r>
            <a:r>
              <a:rPr lang="en-US" dirty="0"/>
              <a:t> </a:t>
            </a:r>
            <a:r>
              <a:rPr lang="en-US" dirty="0" err="1"/>
              <a:t>koordinata</a:t>
            </a:r>
            <a:r>
              <a:rPr lang="en-US" dirty="0"/>
              <a:t> </a:t>
            </a:r>
            <a:r>
              <a:rPr lang="en-US" dirty="0" err="1"/>
              <a:t>koristeći</a:t>
            </a:r>
            <a:r>
              <a:rPr lang="en-US" dirty="0"/>
              <a:t> </a:t>
            </a:r>
            <a:r>
              <a:rPr lang="en-US" dirty="0" err="1"/>
              <a:t>Euklidsko</a:t>
            </a:r>
            <a:r>
              <a:rPr lang="en-US" dirty="0"/>
              <a:t> </a:t>
            </a:r>
            <a:r>
              <a:rPr lang="en-US" dirty="0" err="1"/>
              <a:t>rastojanje</a:t>
            </a:r>
            <a:r>
              <a:rPr lang="en-US" dirty="0"/>
              <a:t>.</a:t>
            </a:r>
          </a:p>
          <a:p>
            <a:r>
              <a:rPr lang="en-US" b="1" dirty="0" err="1"/>
              <a:t>Ukupan</a:t>
            </a:r>
            <a:r>
              <a:rPr lang="en-US" b="1" dirty="0"/>
              <a:t> </a:t>
            </a:r>
            <a:r>
              <a:rPr lang="en-US" b="1" dirty="0" err="1"/>
              <a:t>trošak</a:t>
            </a:r>
            <a:r>
              <a:rPr lang="en-US" b="1" dirty="0"/>
              <a:t> </a:t>
            </a:r>
            <a:r>
              <a:rPr lang="en-US" b="1" dirty="0" err="1"/>
              <a:t>rute</a:t>
            </a:r>
            <a:endParaRPr lang="en-US" b="1" dirty="0"/>
          </a:p>
          <a:p>
            <a:pPr lvl="1"/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trošak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zbir</a:t>
            </a:r>
            <a:r>
              <a:rPr lang="en-US" dirty="0"/>
              <a:t>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rastojanja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uzastopnih</a:t>
            </a:r>
            <a:r>
              <a:rPr lang="en-US" dirty="0"/>
              <a:t> </a:t>
            </a:r>
            <a:r>
              <a:rPr lang="en-US" dirty="0" err="1"/>
              <a:t>atrakcija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ruti</a:t>
            </a:r>
            <a:r>
              <a:rPr lang="en-US" dirty="0"/>
              <a:t>.</a:t>
            </a:r>
          </a:p>
          <a:p>
            <a:r>
              <a:rPr lang="en-US" b="1" dirty="0" err="1"/>
              <a:t>Izazov</a:t>
            </a:r>
            <a:r>
              <a:rPr lang="en-US" b="1" dirty="0"/>
              <a:t>: </a:t>
            </a:r>
            <a:r>
              <a:rPr lang="en-US" b="1" dirty="0" err="1"/>
              <a:t>Optimalan</a:t>
            </a:r>
            <a:r>
              <a:rPr lang="en-US" b="1" dirty="0"/>
              <a:t> </a:t>
            </a:r>
            <a:r>
              <a:rPr lang="en-US" b="1" dirty="0" err="1"/>
              <a:t>redosled</a:t>
            </a:r>
            <a:r>
              <a:rPr lang="en-US" b="1" dirty="0"/>
              <a:t> </a:t>
            </a:r>
            <a:r>
              <a:rPr lang="en-US" b="1" dirty="0" err="1"/>
              <a:t>obilaska</a:t>
            </a:r>
            <a:endParaRPr lang="en-US" b="1" dirty="0"/>
          </a:p>
          <a:p>
            <a:pPr lvl="1"/>
            <a:r>
              <a:rPr lang="en-US" dirty="0" err="1"/>
              <a:t>Potrebno</a:t>
            </a:r>
            <a:r>
              <a:rPr lang="en-US" dirty="0"/>
              <a:t> je </a:t>
            </a:r>
            <a:r>
              <a:rPr lang="en-US" dirty="0" err="1"/>
              <a:t>pronaći</a:t>
            </a:r>
            <a:r>
              <a:rPr lang="en-US" dirty="0"/>
              <a:t> </a:t>
            </a:r>
            <a:r>
              <a:rPr lang="en-US" dirty="0" err="1"/>
              <a:t>redosled</a:t>
            </a:r>
            <a:r>
              <a:rPr lang="en-US" dirty="0"/>
              <a:t> </a:t>
            </a:r>
            <a:r>
              <a:rPr lang="en-US" dirty="0" err="1"/>
              <a:t>obilaska</a:t>
            </a:r>
            <a:r>
              <a:rPr lang="en-US" dirty="0"/>
              <a:t> </a:t>
            </a:r>
            <a:r>
              <a:rPr lang="en-US" dirty="0" err="1"/>
              <a:t>atrakcija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minimizuje</a:t>
            </a:r>
            <a:r>
              <a:rPr lang="en-US" dirty="0"/>
              <a:t> </a:t>
            </a:r>
            <a:r>
              <a:rPr lang="en-US" dirty="0" err="1"/>
              <a:t>ukupnu</a:t>
            </a:r>
            <a:r>
              <a:rPr lang="en-US" dirty="0"/>
              <a:t> </a:t>
            </a:r>
            <a:r>
              <a:rPr lang="en-US" dirty="0" err="1"/>
              <a:t>dužinu</a:t>
            </a:r>
            <a:r>
              <a:rPr lang="en-US" dirty="0"/>
              <a:t> </a:t>
            </a:r>
            <a:r>
              <a:rPr lang="en-US" dirty="0" err="1"/>
              <a:t>rute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835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2C531-14B5-4870-8DF1-1441C0EA0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Implementacija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CB922-575B-4E77-80FE-EBFED3788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Konstrukcija</a:t>
            </a:r>
            <a:r>
              <a:rPr lang="en-US" dirty="0"/>
              <a:t> (</a:t>
            </a:r>
            <a:r>
              <a:rPr lang="en-US" dirty="0" err="1"/>
              <a:t>restricted_candidate_list</a:t>
            </a:r>
            <a:r>
              <a:rPr lang="en-US" dirty="0"/>
              <a:t>): </a:t>
            </a:r>
            <a:r>
              <a:rPr lang="en-US" dirty="0" err="1"/>
              <a:t>bira</a:t>
            </a:r>
            <a:r>
              <a:rPr lang="en-US" dirty="0"/>
              <a:t> se start, pa u </a:t>
            </a:r>
            <a:r>
              <a:rPr lang="en-US" dirty="0" err="1"/>
              <a:t>svakom</a:t>
            </a:r>
            <a:r>
              <a:rPr lang="en-US" dirty="0"/>
              <a:t> </a:t>
            </a:r>
            <a:r>
              <a:rPr lang="en-US" dirty="0" err="1"/>
              <a:t>koraku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greedy </a:t>
            </a:r>
            <a:r>
              <a:rPr lang="en-US" dirty="0" err="1"/>
              <a:t>najbliži</a:t>
            </a:r>
            <a:r>
              <a:rPr lang="en-US" dirty="0"/>
              <a:t> </a:t>
            </a:r>
            <a:r>
              <a:rPr lang="en-US" dirty="0" err="1"/>
              <a:t>neposećen</a:t>
            </a:r>
            <a:r>
              <a:rPr lang="en-US" dirty="0"/>
              <a:t> (</a:t>
            </a:r>
            <a:r>
              <a:rPr lang="en-US" dirty="0" err="1"/>
              <a:t>ako</a:t>
            </a:r>
            <a:r>
              <a:rPr lang="en-US" dirty="0"/>
              <a:t> je</a:t>
            </a:r>
            <a:r>
              <a:rPr lang="sr-Latn-RS" dirty="0"/>
              <a:t> rand &gt; greediness)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slučajno</a:t>
            </a:r>
            <a:r>
              <a:rPr lang="en-US" dirty="0"/>
              <a:t> </a:t>
            </a:r>
            <a:r>
              <a:rPr lang="en-US" dirty="0" err="1"/>
              <a:t>neposećen</a:t>
            </a:r>
            <a:r>
              <a:rPr lang="en-US" dirty="0"/>
              <a:t> (</a:t>
            </a:r>
            <a:r>
              <a:rPr lang="en-US" dirty="0" err="1"/>
              <a:t>ako</a:t>
            </a:r>
            <a:r>
              <a:rPr lang="en-US" dirty="0"/>
              <a:t> je</a:t>
            </a:r>
            <a:r>
              <a:rPr lang="sr-Latn-RS" dirty="0"/>
              <a:t> rand &lt;= greediness); </a:t>
            </a:r>
            <a:r>
              <a:rPr lang="en-US" dirty="0"/>
              <a:t>; </a:t>
            </a:r>
            <a:r>
              <a:rPr lang="en-US" dirty="0" err="1"/>
              <a:t>veći</a:t>
            </a:r>
            <a:r>
              <a:rPr lang="en-US" dirty="0"/>
              <a:t> “greediness” </a:t>
            </a:r>
            <a:r>
              <a:rPr lang="en-US" dirty="0" err="1"/>
              <a:t>ovde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random </a:t>
            </a:r>
            <a:r>
              <a:rPr lang="en-US" dirty="0" err="1"/>
              <a:t>poteza</a:t>
            </a:r>
            <a:endParaRPr lang="sr-Latn-RS" dirty="0"/>
          </a:p>
          <a:p>
            <a:r>
              <a:rPr lang="en-US" dirty="0" err="1"/>
              <a:t>Lokalna</a:t>
            </a:r>
            <a:r>
              <a:rPr lang="en-US" dirty="0"/>
              <a:t> </a:t>
            </a:r>
            <a:r>
              <a:rPr lang="en-US" dirty="0" err="1"/>
              <a:t>pretraga</a:t>
            </a:r>
            <a:r>
              <a:rPr lang="en-US" dirty="0"/>
              <a:t>: 2‑opt (</a:t>
            </a:r>
            <a:r>
              <a:rPr lang="en-US" dirty="0" err="1"/>
              <a:t>reverzija</a:t>
            </a:r>
            <a:r>
              <a:rPr lang="en-US" dirty="0"/>
              <a:t> </a:t>
            </a:r>
            <a:r>
              <a:rPr lang="en-US" dirty="0" err="1"/>
              <a:t>segmenta</a:t>
            </a:r>
            <a:r>
              <a:rPr lang="en-US" dirty="0"/>
              <a:t> </a:t>
            </a:r>
            <a:r>
              <a:rPr lang="en-US" dirty="0" err="1"/>
              <a:t>ture</a:t>
            </a:r>
            <a:r>
              <a:rPr lang="en-US" dirty="0"/>
              <a:t>)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konstruisanim</a:t>
            </a:r>
            <a:r>
              <a:rPr lang="en-US" dirty="0"/>
              <a:t> </a:t>
            </a:r>
            <a:r>
              <a:rPr lang="en-US" dirty="0" err="1"/>
              <a:t>kandidatom</a:t>
            </a:r>
            <a:endParaRPr lang="sr-Latn-RS" dirty="0"/>
          </a:p>
          <a:p>
            <a:r>
              <a:rPr lang="en-US" dirty="0"/>
              <a:t>GRASP </a:t>
            </a:r>
            <a:r>
              <a:rPr lang="en-US" dirty="0" err="1"/>
              <a:t>petlja</a:t>
            </a:r>
            <a:r>
              <a:rPr lang="en-US" dirty="0"/>
              <a:t>: </a:t>
            </a:r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iteracija</a:t>
            </a:r>
            <a:r>
              <a:rPr lang="en-US" dirty="0"/>
              <a:t> </a:t>
            </a:r>
            <a:r>
              <a:rPr lang="en-US" dirty="0" err="1"/>
              <a:t>generiše</a:t>
            </a:r>
            <a:r>
              <a:rPr lang="sr-Latn-RS" dirty="0"/>
              <a:t> rcl_size </a:t>
            </a:r>
            <a:r>
              <a:rPr lang="sv-SE" dirty="0"/>
              <a:t>konstruktovanih kandidata, bira jednog slučajno, primeni 2‑opt, ažurira best i štampa “Iteration -&gt; Distance”</a:t>
            </a:r>
            <a:endParaRPr lang="sr-Latn-R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37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6E8C9C-96A7-4CB0-943B-78F612312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74" y="250789"/>
            <a:ext cx="4313075" cy="32348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A3D806-F566-46F6-AA07-F06CC885E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966" y="250789"/>
            <a:ext cx="4313075" cy="3234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563A76-FCC4-4384-A19F-2A1F29A92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74" y="3588798"/>
            <a:ext cx="4313075" cy="32348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43D418-1B78-4718-96BA-48352BD19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966" y="3588797"/>
            <a:ext cx="4313076" cy="323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464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96</TotalTime>
  <Words>717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GRASP algoritam</vt:lpstr>
      <vt:lpstr>Uvod u GRASP</vt:lpstr>
      <vt:lpstr>Kako GRASP radi</vt:lpstr>
      <vt:lpstr>PowerPoint Presentation</vt:lpstr>
      <vt:lpstr> Parametar α i RCL strategije</vt:lpstr>
      <vt:lpstr>Zašto GRASP tipično nadmašuje brute-force</vt:lpstr>
      <vt:lpstr>Problem mreže za vanredne situacije</vt:lpstr>
      <vt:lpstr>Implementacija</vt:lpstr>
      <vt:lpstr>PowerPoint Presentation</vt:lpstr>
      <vt:lpstr>Problem turiste</vt:lpstr>
      <vt:lpstr>Implementacija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GRASP algoritam</dc:title>
  <dc:creator>Strahinja Rosic</dc:creator>
  <cp:lastModifiedBy>Strahinja Rosic</cp:lastModifiedBy>
  <cp:revision>9</cp:revision>
  <dcterms:created xsi:type="dcterms:W3CDTF">2026-03-06T12:30:53Z</dcterms:created>
  <dcterms:modified xsi:type="dcterms:W3CDTF">2026-03-06T14:07:18Z</dcterms:modified>
</cp:coreProperties>
</file>